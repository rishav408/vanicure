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VaniCure: AI-Powered Respiratory Diagnostics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Offline AI Diagnostic Agent for TB &amp; Asthma Screening</a:t>
            </a:r>
          </a:p>
          <a:p/>
          <a:p>
            <a:r>
              <a:t>Execution Strategy: Edge-Device Parallel &amp; Sequential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1.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Problem: Rural Primary Health Centres (PHCs) lack X-rays and reliable clinical diagnostics, with very low internet connectivity.</a:t>
            </a:r>
          </a:p>
          <a:p>
            <a:pPr>
              <a:defRPr sz="2000">
                <a:latin typeface="Arial"/>
              </a:defRPr>
            </a:pPr>
            <a:r>
              <a:t>Goal: Build an offline-first AI system that analyzes patient respiratory audio (coughs, breathing) to predict Tuberculosis and Asthma risk.</a:t>
            </a:r>
          </a:p>
          <a:p>
            <a:pPr>
              <a:defRPr sz="2000">
                <a:latin typeface="Arial"/>
              </a:defRPr>
            </a:pPr>
            <a:r>
              <a:t>Advantage: Complete privacy via on-device inference (Zero Cloud dependency) and non-invasive microphone-based screening.</a:t>
            </a:r>
          </a:p>
          <a:p>
            <a:pPr>
              <a:defRPr sz="2000">
                <a:latin typeface="Arial"/>
              </a:defRPr>
            </a:pPr>
            <a:r>
              <a:t>Engineering Challenge: Running multiple Deep Learning networks simultaneously on standard hardware severely bottlenecks CPUs.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Develop a robust 6-model AI ensemble utilizing diverse structures (CNNs, LSTMs, MobileNets).</a:t>
            </a:r>
          </a:p>
          <a:p>
            <a:pPr>
              <a:defRPr sz="2000">
                <a:latin typeface="Arial"/>
              </a:defRPr>
            </a:pPr>
            <a:r>
              <a:t>Organize models hierarchically into 3 distinct diagnostic pipelines to prevent individual model hallucination.</a:t>
            </a:r>
          </a:p>
          <a:p>
            <a:pPr>
              <a:defRPr sz="2000">
                <a:latin typeface="Arial"/>
              </a:defRPr>
            </a:pPr>
            <a:r>
              <a:t>Engineer an Asynchronous Execution Engine managing both Sequential and Parallel threading.</a:t>
            </a:r>
          </a:p>
          <a:p>
            <a:pPr>
              <a:defRPr sz="2000">
                <a:latin typeface="Arial"/>
              </a:defRPr>
            </a:pPr>
            <a:r>
              <a:t>Establish a full-stack React frontend &amp; FastAPI edge application.</a:t>
            </a:r>
          </a:p>
          <a:p>
            <a:pPr>
              <a:defRPr sz="2000">
                <a:latin typeface="Arial"/>
              </a:defRPr>
            </a:pPr>
            <a:r>
              <a:t>Achieve total inference times under &lt; 100ms via optimized concurrency.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System Architecture: Parallel Execution (Production Defaults ~52ms)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3200400"/>
            <a:ext cx="18288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React Frontend</a:t>
            </a:r>
          </a:p>
          <a:p>
            <a:r>
              <a:t>(Live Mic/Audio Blob)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356616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200400"/>
            <a:ext cx="1828800" cy="109728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FastAPI Edge Server</a:t>
            </a:r>
          </a:p>
          <a:p>
            <a:r>
              <a:t>(ThreadPoolExecutor)</a:t>
            </a:r>
          </a:p>
          <a:p>
            <a:r>
              <a:t>asyncio.gather()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2011680" cy="1280160"/>
          </a:xfrm>
          <a:prstGeom prst="roundRect">
            <a:avLst/>
          </a:prstGeom>
          <a:solidFill>
            <a:srgbClr val="663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Pipeline A (Parallel)</a:t>
            </a:r>
          </a:p>
          <a:p>
            <a:r>
              <a:t>• PANNs CNN14</a:t>
            </a:r>
          </a:p>
          <a:p>
            <a:r>
              <a:t>• YAMNet</a:t>
            </a:r>
          </a:p>
          <a:p>
            <a:r>
              <a:t>• CNN-BiLSTM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4389120"/>
            <a:ext cx="2011680" cy="1280160"/>
          </a:xfrm>
          <a:prstGeom prst="roundRect">
            <a:avLst/>
          </a:prstGeom>
          <a:solidFill>
            <a:srgbClr val="663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Pipeline B (Parallel)</a:t>
            </a:r>
          </a:p>
          <a:p>
            <a:r>
              <a:t>• ResNet18</a:t>
            </a:r>
          </a:p>
          <a:p>
            <a:r>
              <a:t>• MobileNetV2</a:t>
            </a:r>
          </a:p>
          <a:p>
            <a:r>
              <a:t>• TinyCNN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200400"/>
            <a:ext cx="1645920" cy="1097280"/>
          </a:xfrm>
          <a:prstGeom prst="round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Pipeline C</a:t>
            </a:r>
          </a:p>
          <a:p>
            <a:r>
              <a:t>(Final Risk Average)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System Architecture: Sequential Execution (Hardware Throttling ~76ms)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200400"/>
            <a:ext cx="1828800" cy="128016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FastAPI Server</a:t>
            </a:r>
          </a:p>
          <a:p>
            <a:r>
              <a:t>(Sequential Mode Triggered)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77440" y="365760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3200400"/>
            <a:ext cx="1828800" cy="1280160"/>
          </a:xfrm>
          <a:prstGeom prst="roundRect">
            <a:avLst/>
          </a:prstGeom>
          <a:solidFill>
            <a:srgbClr val="663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Wait Block 1</a:t>
            </a:r>
          </a:p>
          <a:p>
            <a:r>
              <a:t>Execute Pipeline A</a:t>
            </a:r>
          </a:p>
          <a:p>
            <a:r>
              <a:t>(PANNs, YAMNet, BiLSTM)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54880" y="365760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3200400"/>
            <a:ext cx="1828800" cy="1280160"/>
          </a:xfrm>
          <a:prstGeom prst="roundRect">
            <a:avLst/>
          </a:prstGeom>
          <a:solidFill>
            <a:srgbClr val="663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Wait Block 2</a:t>
            </a:r>
          </a:p>
          <a:p>
            <a:r>
              <a:t>Execute Pipeline B</a:t>
            </a:r>
          </a:p>
          <a:p>
            <a:r>
              <a:t>(ResNet, MobileNet, TinyCNN)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32320" y="365760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200400"/>
            <a:ext cx="1645920" cy="1280160"/>
          </a:xfrm>
          <a:prstGeom prst="round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Final Output</a:t>
            </a:r>
          </a:p>
          <a:p>
            <a:r>
              <a:t>Aggregate Pipeline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5. AI Model Architectures (6 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Pipeline A (Heavy Pretrained Extractors):</a:t>
            </a:r>
          </a:p>
          <a:p>
            <a:pPr>
              <a:defRPr sz="2000">
                <a:latin typeface="Arial"/>
              </a:defRPr>
            </a:pPr>
            <a:r>
              <a:t>  • PANNs CNN14: 14-layer CNN mapping massive 64-bin Mel-Spectrogram features.</a:t>
            </a:r>
          </a:p>
          <a:p>
            <a:pPr>
              <a:defRPr sz="2000">
                <a:latin typeface="Arial"/>
              </a:defRPr>
            </a:pPr>
            <a:r>
              <a:t>  • YAMNet: Google’s lightweight MobileNet v1 producing rapid 521-class logits.</a:t>
            </a:r>
          </a:p>
          <a:p>
            <a:pPr>
              <a:defRPr sz="2000">
                <a:latin typeface="Arial"/>
              </a:defRPr>
            </a:pPr>
            <a:r>
              <a:t>  • CNN-BiLSTM: Custom-trained encoding sequence for cough space + breathing rhythm.</a:t>
            </a:r>
          </a:p>
          <a:p>
            <a:pPr>
              <a:defRPr sz="2000">
                <a:latin typeface="Arial"/>
              </a:defRPr>
            </a:pPr>
          </a:p>
          <a:p>
            <a:pPr>
              <a:defRPr sz="2000">
                <a:latin typeface="Arial"/>
              </a:defRPr>
            </a:pPr>
            <a:r>
              <a:t>Pipeline B (Lightweight Edge-Optimized Cast):</a:t>
            </a:r>
          </a:p>
          <a:p>
            <a:pPr>
              <a:defRPr sz="2000">
                <a:latin typeface="Arial"/>
              </a:defRPr>
            </a:pPr>
            <a:r>
              <a:t>  • ResNet18-Audio: Processes residual skip-connections across spectral boundaries.</a:t>
            </a:r>
          </a:p>
          <a:p>
            <a:pPr>
              <a:defRPr sz="2000">
                <a:latin typeface="Arial"/>
              </a:defRPr>
            </a:pPr>
            <a:r>
              <a:t>  • MobileNetV2-Audio: Shrinks computing layers using depthwise separable convolutions.</a:t>
            </a:r>
          </a:p>
          <a:p>
            <a:pPr>
              <a:defRPr sz="2000">
                <a:latin typeface="Arial"/>
              </a:defRPr>
            </a:pPr>
            <a:r>
              <a:t>  • TinyCNN: 3-Layer ultra-fast baseline network executing under &lt;20ms.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6. Performance Benchmark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Pipeline Accuracy Hierarchy:</a:t>
            </a:r>
          </a:p>
          <a:p>
            <a:pPr>
              <a:defRPr sz="2000">
                <a:latin typeface="Arial"/>
              </a:defRPr>
            </a:pPr>
            <a:r>
              <a:t>  • Pipeline A Absolute Mean: 84.2%</a:t>
            </a:r>
          </a:p>
          <a:p>
            <a:pPr>
              <a:defRPr sz="2000">
                <a:latin typeface="Arial"/>
              </a:defRPr>
            </a:pPr>
            <a:r>
              <a:t>  • Pipeline B Absolute Mean: 81.2%</a:t>
            </a:r>
          </a:p>
          <a:p>
            <a:pPr>
              <a:defRPr sz="2000">
                <a:latin typeface="Arial"/>
              </a:defRPr>
            </a:pPr>
            <a:r>
              <a:t>  • Pipeline C Combined Output: 82.7%</a:t>
            </a:r>
          </a:p>
          <a:p>
            <a:pPr>
              <a:defRPr sz="2000">
                <a:latin typeface="Arial"/>
              </a:defRPr>
            </a:pPr>
          </a:p>
          <a:p>
            <a:pPr>
              <a:defRPr sz="2000">
                <a:latin typeface="Arial"/>
              </a:defRPr>
            </a:pPr>
            <a:r>
              <a:t>System Sub-Latency Matrix:</a:t>
            </a:r>
          </a:p>
          <a:p>
            <a:pPr>
              <a:defRPr sz="2000">
                <a:latin typeface="Arial"/>
              </a:defRPr>
            </a:pPr>
            <a:r>
              <a:t>  • Strict Sequential Pipeline Pathing: ~76 ms</a:t>
            </a:r>
          </a:p>
          <a:p>
            <a:pPr>
              <a:defRPr sz="2000">
                <a:latin typeface="Arial"/>
              </a:defRPr>
            </a:pPr>
            <a:r>
              <a:t>  • Fully Unlocked Parallel Execution: ~52 ms (2.3x Benchmark Speedup vs singular execution)</a:t>
            </a:r>
          </a:p>
          <a:p>
            <a:pPr>
              <a:defRPr sz="2000">
                <a:latin typeface="Arial"/>
              </a:defRPr>
            </a:pPr>
            <a:r>
              <a:t>  • Result: Seamless instantaneous clinical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7. Live Architecture: Parallel Execution Visualized</a:t>
            </a:r>
          </a:p>
        </p:txBody>
      </p:sp>
      <p:pic>
        <p:nvPicPr>
          <p:cNvPr id="3" name="Picture 2" descr="pipeline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55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8. Risk Assessment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The Pipeline C combined aggregate dictates final action parameters:</a:t>
            </a:r>
          </a:p>
          <a:p>
            <a:pPr>
              <a:defRPr sz="2000">
                <a:latin typeface="Arial"/>
              </a:defRPr>
            </a:pPr>
          </a:p>
          <a:p>
            <a:pPr>
              <a:defRPr sz="2000">
                <a:latin typeface="Arial"/>
              </a:defRPr>
            </a:pPr>
            <a:r>
              <a:t>🔴 CRITICAL (Suspect TB):</a:t>
            </a:r>
          </a:p>
          <a:p>
            <a:pPr>
              <a:defRPr sz="2000">
                <a:latin typeface="Arial"/>
              </a:defRPr>
            </a:pPr>
            <a:r>
              <a:t>  • Trigger: Pipeline C TB Risk &gt; 25%</a:t>
            </a:r>
          </a:p>
          <a:p>
            <a:pPr>
              <a:defRPr sz="2000">
                <a:latin typeface="Arial"/>
              </a:defRPr>
            </a:pPr>
            <a:r>
              <a:t>  • Direction: Immediate referral for sputum/GeneXpert examination.</a:t>
            </a:r>
          </a:p>
          <a:p>
            <a:pPr>
              <a:defRPr sz="2000">
                <a:latin typeface="Arial"/>
              </a:defRPr>
            </a:pPr>
          </a:p>
          <a:p>
            <a:pPr>
              <a:defRPr sz="2000">
                <a:latin typeface="Arial"/>
              </a:defRPr>
            </a:pPr>
            <a:r>
              <a:t>🟡 WARNING (COPD / Asthma Variant):</a:t>
            </a:r>
          </a:p>
          <a:p>
            <a:pPr>
              <a:defRPr sz="2000">
                <a:latin typeface="Arial"/>
              </a:defRPr>
            </a:pPr>
            <a:r>
              <a:t>  • Trigger: Pipeline C Asthma Risk &gt; 30%</a:t>
            </a:r>
          </a:p>
          <a:p>
            <a:pPr>
              <a:defRPr sz="2000">
                <a:latin typeface="Arial"/>
              </a:defRPr>
            </a:pPr>
            <a:r>
              <a:t>  • Direction: Pulmonology consult recommended within 48-hours.</a:t>
            </a:r>
          </a:p>
          <a:p>
            <a:pPr>
              <a:defRPr sz="2000">
                <a:latin typeface="Arial"/>
              </a:defRPr>
            </a:pPr>
          </a:p>
          <a:p>
            <a:pPr>
              <a:defRPr sz="2000">
                <a:latin typeface="Arial"/>
              </a:defRPr>
            </a:pPr>
            <a:r>
              <a:t>🟢 NORMAL / LOW RISK:</a:t>
            </a:r>
          </a:p>
          <a:p>
            <a:pPr>
              <a:defRPr sz="2000">
                <a:latin typeface="Arial"/>
              </a:defRPr>
            </a:pPr>
            <a:r>
              <a:t>  • Trigger: All levels beneath thresholds.</a:t>
            </a:r>
          </a:p>
          <a:p>
            <a:pPr>
              <a:defRPr sz="2000">
                <a:latin typeface="Arial"/>
              </a:defRPr>
            </a:pPr>
            <a:r>
              <a:t>  • Direction: General 3-month clinic checkup suggested.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9. Local Output: Outbreak District 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552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10. Future Scope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Conclusion:</a:t>
            </a:r>
          </a:p>
          <a:p>
            <a:pPr>
              <a:defRPr sz="2000">
                <a:latin typeface="Arial"/>
              </a:defRPr>
            </a:pPr>
            <a:r>
              <a:t>  • VaniCure proves that advanced 6-model ML workflows can run offline inside low-connectivity clinical edge hardware.</a:t>
            </a:r>
          </a:p>
          <a:p>
            <a:pPr>
              <a:defRPr sz="2000">
                <a:latin typeface="Arial"/>
              </a:defRPr>
            </a:pPr>
            <a:r>
              <a:t>  • Combining Sequential fallback strategies prevents system crashes, while Parallel unlocking enables state-of-the-art speeds.</a:t>
            </a:r>
          </a:p>
          <a:p>
            <a:pPr>
              <a:defRPr sz="2000">
                <a:latin typeface="Arial"/>
              </a:defRPr>
            </a:pPr>
          </a:p>
          <a:p>
            <a:pPr>
              <a:defRPr sz="2000">
                <a:latin typeface="Arial"/>
              </a:defRPr>
            </a:pPr>
            <a:r>
              <a:t>Future Scope:</a:t>
            </a:r>
          </a:p>
          <a:p>
            <a:pPr>
              <a:defRPr sz="2000">
                <a:latin typeface="Arial"/>
              </a:defRPr>
            </a:pPr>
            <a:r>
              <a:t>  • Hardware Recognition: Auto-switching execution nodes based on RAM capacity on boot.</a:t>
            </a:r>
          </a:p>
          <a:p>
            <a:pPr>
              <a:defRPr sz="2000">
                <a:latin typeface="Arial"/>
              </a:defRPr>
            </a:pPr>
            <a:r>
              <a:t>  • Clinical Trials: Gathering metrics beside Gold Standard hospital assays.</a:t>
            </a:r>
          </a:p>
          <a:p>
            <a:pPr>
              <a:defRPr sz="2000">
                <a:latin typeface="Arial"/>
              </a:defRPr>
            </a:pPr>
            <a:r>
              <a:t>  • Edge Containers: Compiling models directly to native mobile TF-Lite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